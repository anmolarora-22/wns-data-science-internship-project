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5EC1-063B-6909-D9B0-1DCD37A1C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23B2D-7540-AA9D-7004-DD8FA7656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C4091-C590-D532-3B11-5E5AFB9C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C020C-E9A2-B6E0-F202-E7E1CD83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E46CC-56D2-9397-AD38-D3DBB291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91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F7A-35AE-3141-1078-7A1C6341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102DE-6F01-1219-8CE9-0E508B25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C85DF-08CC-078A-2130-A98319A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DB751-5F26-5B96-BF4A-AA680FC8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90602-2B66-866D-610E-415E06CA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0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81A1-150D-CDCB-480D-43EC8958F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2CEC9-E903-538A-1798-C0B5347E0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0D21-A8D6-31F2-464E-91BCFFA3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347F9-F80E-D16B-2D95-39518889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FF9C7-C491-1C7C-6FCD-390BA783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26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8828-1385-7CC8-E655-18660422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9C002-C78C-CC89-761B-BD9AF8695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7FE05-AFC3-51C6-E76E-B7F206611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89FCE-0100-17E8-82D6-15D2B1C5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ADCE1-47E0-5795-8C4E-FD057EDCE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16FB-B1A1-0B35-D56F-FFFF975C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9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E2DB-C85B-C4BB-7D5D-56CC3908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05BF5-0C9C-E0B7-9AB8-A3F9908C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14F77-DF94-7953-F1E1-C23F42F88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A18E5-3DAE-D688-3F33-8AA92C7DB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61850-D27C-420A-76B8-DE498020A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5914B-3F51-1EE9-F9D3-08A4C768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7215F-990D-F1D1-031A-76B4E16C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1C013-71B6-5611-8D17-5954AA41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5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813B4-C569-8A2F-5F01-8E84EF89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F1DBF-1EE8-53D9-8D95-4B81A05B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C9D66-C065-C39D-5A76-073680A5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A0A89-CA92-8F42-90DF-E75AA1D4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32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D194F-0387-C9B8-7ABC-FA5A0FD7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DC7F3-5E8E-EF6B-7C8E-4EDF4553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1C89A-4332-7D27-57C5-2F42FF9A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15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8858-A193-4CB6-5CA5-6C1E00D9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3C878-78C1-6FFA-738A-BFDEDDA0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2FB21-11CB-D215-96DB-970A8CBCA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BF34-651E-58F0-B735-BF4AC85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2D415-3B88-4D3C-4FBA-E513BF3C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5B404-76AE-C461-F0A3-3AAD6D0B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30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CCBA-F1A9-B7D6-15C3-85636849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3314B-2F06-E2B9-9D09-B29DAB17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51C0E-F4AC-4BDD-F72D-80E88BD84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069FA-CF06-0D92-FED0-F243DF52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2D731-3E07-5A70-D475-3742E7890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F10A5-A129-E77F-21D4-7F74758C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63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5ED0-0DD2-EC66-18B0-E9DDEF76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D3E90-01F5-E428-D55F-8FBE936F9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3D06D-63E1-76EC-083D-A17ADB77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07325-3E29-A6C8-8757-4B4B6B7D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C7C6C-52C4-401E-F776-B34F63CB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4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34F16-5962-5FEF-575B-8D0AC84AA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06421-5DFD-7F35-186F-EF03215FF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E841-8E3E-CE1B-007F-0F8E44D8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6DB6A-7D09-E62C-3351-4815191C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61EBC-C9EF-5B43-9F3B-85FDAC43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39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6C9EE-24D7-BA9E-24E1-CC557C2E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F911-A72F-FD80-08AC-6DFDCB3DF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219F-5CD0-2AF1-7ED1-F0B0E35E6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E84DF-757E-4D13-BAD7-0C9D3246F58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66C9-8144-7132-3BB0-529EEA22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2D713-DF20-E4DF-A700-41FC1EC96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E8698-A281-4695-AB82-8E2836F55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2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1D9F-9F38-5A00-60A5-A1DA947BD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RESEARCH ON FACTOR ANALYSIS</a:t>
            </a:r>
          </a:p>
        </p:txBody>
      </p:sp>
    </p:spTree>
    <p:extLst>
      <p:ext uri="{BB962C8B-B14F-4D97-AF65-F5344CB8AC3E}">
        <p14:creationId xmlns:p14="http://schemas.microsoft.com/office/powerpoint/2010/main" val="212963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25C798-D0EB-5BFD-313C-3C90BA4F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 Analysis: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61D9C5-492F-2B43-D43D-243139260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b="1" dirty="0"/>
              <a:t>Factor Analysis </a:t>
            </a:r>
            <a:r>
              <a:rPr lang="en-IN" dirty="0"/>
              <a:t>is a multivariate technique used to identify latent</a:t>
            </a:r>
            <a:r>
              <a:rPr lang="en-IN" b="1" dirty="0"/>
              <a:t> </a:t>
            </a:r>
            <a:r>
              <a:rPr lang="en-IN" dirty="0"/>
              <a:t>factors from a set of observed variables. </a:t>
            </a:r>
          </a:p>
          <a:p>
            <a:pPr lvl="0"/>
            <a:r>
              <a:rPr lang="en-IN" dirty="0"/>
              <a:t>It assumes that variables that are related may be influenced by common underlying dimensions. </a:t>
            </a:r>
          </a:p>
          <a:p>
            <a:pPr lvl="0"/>
            <a:r>
              <a:rPr lang="en-IN" b="1" dirty="0"/>
              <a:t>Common variance</a:t>
            </a:r>
            <a:r>
              <a:rPr lang="en-IN" dirty="0"/>
              <a:t> is the variance shared among variables and is the primary focus of common factor analysis. </a:t>
            </a:r>
          </a:p>
          <a:p>
            <a:pPr lvl="0"/>
            <a:r>
              <a:rPr lang="en-IN" b="1" dirty="0"/>
              <a:t>Covariance/correlation</a:t>
            </a:r>
            <a:r>
              <a:rPr lang="en-IN" dirty="0"/>
              <a:t> describes the relationships among variables and helps reveal which variables may belong to the same factor. </a:t>
            </a:r>
          </a:p>
          <a:p>
            <a:pPr lvl="0"/>
            <a:r>
              <a:rPr lang="en-IN" b="1" dirty="0"/>
              <a:t>Factor loading</a:t>
            </a:r>
            <a:r>
              <a:rPr lang="en-IN" dirty="0"/>
              <a:t> represents the strength of association between an observed variable and a factor.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94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4887-89AD-4086-86EF-3761F41A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Are Factors Identified?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703A8-2CC6-1022-81DD-A2392FD73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Factor Extraction:</a:t>
            </a:r>
          </a:p>
          <a:p>
            <a:pPr lvl="0"/>
            <a:r>
              <a:rPr lang="en-IN" b="1" dirty="0"/>
              <a:t>Principal Axis Factoring (PAF):</a:t>
            </a:r>
            <a:r>
              <a:rPr lang="en-IN" dirty="0"/>
              <a:t> Focuses on common/shared variance. </a:t>
            </a:r>
          </a:p>
          <a:p>
            <a:pPr lvl="0"/>
            <a:r>
              <a:rPr lang="en-IN" b="1" dirty="0"/>
              <a:t>Maximum Likelihood (ML):</a:t>
            </a:r>
            <a:r>
              <a:rPr lang="en-IN" dirty="0"/>
              <a:t> Estimates factors using a statistical model and allows formal statistical testing under suitable assumptions.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Determining the Number of Factors:</a:t>
            </a:r>
          </a:p>
          <a:p>
            <a:pPr lvl="0"/>
            <a:r>
              <a:rPr lang="en-IN" b="1" dirty="0"/>
              <a:t>Eigenvalues:</a:t>
            </a:r>
            <a:r>
              <a:rPr lang="en-IN" dirty="0"/>
              <a:t> Indicate the amount of variance accounted for by each factor. </a:t>
            </a:r>
          </a:p>
          <a:p>
            <a:pPr lvl="0"/>
            <a:r>
              <a:rPr lang="en-IN" b="1" dirty="0"/>
              <a:t>Scree Plot:</a:t>
            </a:r>
            <a:r>
              <a:rPr lang="en-IN" dirty="0"/>
              <a:t> Looks for the point where the curve begins to level off. </a:t>
            </a:r>
          </a:p>
          <a:p>
            <a:pPr lvl="0"/>
            <a:r>
              <a:rPr lang="en-IN" b="1" dirty="0"/>
              <a:t>Parallel Analysis:</a:t>
            </a:r>
            <a:r>
              <a:rPr lang="en-IN" dirty="0"/>
              <a:t> Compares observed eigenvalues with those generated from random data. </a:t>
            </a:r>
          </a:p>
          <a:p>
            <a:pPr lvl="0"/>
            <a:r>
              <a:rPr lang="en-IN" b="1" dirty="0"/>
              <a:t>Interpretability:</a:t>
            </a:r>
            <a:r>
              <a:rPr lang="en-IN" dirty="0"/>
              <a:t> Retained factors should have a meaningful conceptual explanation.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78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50B4-B035-693C-68AA-627D80FD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29"/>
            <a:ext cx="10515600" cy="527901"/>
          </a:xfrm>
        </p:spPr>
        <p:txBody>
          <a:bodyPr>
            <a:normAutofit fontScale="90000"/>
          </a:bodyPr>
          <a:lstStyle/>
          <a:p>
            <a:r>
              <a:rPr lang="en-IN" dirty="0"/>
              <a:t>Factor Rotation &amp; Interpretation: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D1B74-24DE-F59C-2115-472B7198E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10515600" cy="576449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5100" b="1" dirty="0"/>
              <a:t>Why Rotate Factors?</a:t>
            </a:r>
            <a:endParaRPr lang="en-IN" sz="5100" dirty="0"/>
          </a:p>
          <a:p>
            <a:pPr lvl="0"/>
            <a:r>
              <a:rPr lang="en-IN" sz="5100" dirty="0"/>
              <a:t>Initial factor solutions can be difficult to interpret because variables may have meaningful loadings on multiple factors. </a:t>
            </a:r>
          </a:p>
          <a:p>
            <a:pPr lvl="0"/>
            <a:r>
              <a:rPr lang="en-IN" sz="5100" dirty="0"/>
              <a:t>Rotation attempts to produce a simpler and more interpretable factor-loading pattern. </a:t>
            </a:r>
          </a:p>
          <a:p>
            <a:pPr marL="0" lvl="0" indent="0">
              <a:buNone/>
            </a:pPr>
            <a:endParaRPr lang="en-IN" sz="5100" dirty="0"/>
          </a:p>
          <a:p>
            <a:pPr marL="0" indent="0">
              <a:buNone/>
            </a:pPr>
            <a:r>
              <a:rPr lang="en-IN" sz="5100" b="1" dirty="0"/>
              <a:t>Types of Rotation:</a:t>
            </a:r>
          </a:p>
          <a:p>
            <a:pPr marL="0" indent="0">
              <a:buNone/>
            </a:pPr>
            <a:r>
              <a:rPr lang="en-IN" sz="5100" b="1" dirty="0"/>
              <a:t>Varimax — Orthogonal</a:t>
            </a:r>
            <a:endParaRPr lang="en-IN" sz="5100" dirty="0"/>
          </a:p>
          <a:p>
            <a:pPr lvl="0"/>
            <a:r>
              <a:rPr lang="en-IN" sz="5100" dirty="0"/>
              <a:t>Factors remain uncorrelated. </a:t>
            </a:r>
          </a:p>
          <a:p>
            <a:pPr lvl="0"/>
            <a:r>
              <a:rPr lang="en-IN" sz="5100" dirty="0"/>
              <a:t>Attempts to create high loadings on one factor and low loadings on others. </a:t>
            </a:r>
          </a:p>
          <a:p>
            <a:pPr marL="0" indent="0">
              <a:buNone/>
            </a:pPr>
            <a:r>
              <a:rPr lang="en-IN" sz="5100" b="1" dirty="0"/>
              <a:t>Promax / </a:t>
            </a:r>
            <a:r>
              <a:rPr lang="en-IN" sz="5100" b="1" dirty="0" err="1"/>
              <a:t>Oblimin</a:t>
            </a:r>
            <a:r>
              <a:rPr lang="en-IN" sz="5100" b="1" dirty="0"/>
              <a:t> — Oblique</a:t>
            </a:r>
            <a:endParaRPr lang="en-IN" sz="5100" dirty="0"/>
          </a:p>
          <a:p>
            <a:pPr lvl="0"/>
            <a:r>
              <a:rPr lang="en-IN" sz="5100" dirty="0"/>
              <a:t>Allows factors to correlate. </a:t>
            </a:r>
          </a:p>
          <a:p>
            <a:pPr lvl="0"/>
            <a:r>
              <a:rPr lang="en-IN" sz="5100" dirty="0"/>
              <a:t>Appropriate when underlying concepts may naturally be related. </a:t>
            </a:r>
          </a:p>
          <a:p>
            <a:pPr marL="0" indent="0">
              <a:buNone/>
            </a:pPr>
            <a:r>
              <a:rPr lang="en-IN" sz="5100" b="1" dirty="0"/>
              <a:t>Factor Loadings</a:t>
            </a:r>
          </a:p>
          <a:p>
            <a:pPr lvl="0"/>
            <a:r>
              <a:rPr lang="en-IN" sz="5100" dirty="0"/>
              <a:t>Higher loading → stronger relationship with the factor. </a:t>
            </a:r>
          </a:p>
          <a:p>
            <a:pPr lvl="0"/>
            <a:r>
              <a:rPr lang="en-IN" sz="5100" dirty="0"/>
              <a:t>Cross-loading → variable relates to more than one factor. </a:t>
            </a:r>
          </a:p>
          <a:p>
            <a:pPr lvl="0"/>
            <a:r>
              <a:rPr lang="en-IN" sz="5100" dirty="0"/>
              <a:t>Variables with weak or ambiguous loadings require further examination.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520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5265-AA10-4F49-16B8-D513338D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9910"/>
          </a:xfrm>
        </p:spPr>
        <p:txBody>
          <a:bodyPr>
            <a:normAutofit fontScale="90000"/>
          </a:bodyPr>
          <a:lstStyle/>
          <a:p>
            <a:r>
              <a:rPr lang="en-IN" dirty="0"/>
              <a:t>EFA → Factor Interpretation → CFA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AC6A-643A-727E-7475-C7A42DD3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510"/>
            <a:ext cx="10515600" cy="52978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EFA — Discover</a:t>
            </a:r>
            <a:endParaRPr lang="en-IN" dirty="0"/>
          </a:p>
          <a:p>
            <a:pPr lvl="0"/>
            <a:r>
              <a:rPr lang="en-IN" dirty="0"/>
              <a:t>Identifies potential factor structure </a:t>
            </a:r>
          </a:p>
          <a:p>
            <a:pPr lvl="0"/>
            <a:r>
              <a:rPr lang="en-IN" dirty="0"/>
              <a:t>Groups related variables </a:t>
            </a:r>
          </a:p>
          <a:p>
            <a:pPr lvl="0"/>
            <a:r>
              <a:rPr lang="en-IN" dirty="0"/>
              <a:t>Examines factor loadings </a:t>
            </a:r>
          </a:p>
          <a:p>
            <a:pPr lvl="0"/>
            <a:endParaRPr lang="en-IN" dirty="0"/>
          </a:p>
          <a:p>
            <a:pPr marL="0" indent="0">
              <a:buNone/>
            </a:pPr>
            <a:r>
              <a:rPr lang="en-IN" b="1" dirty="0"/>
              <a:t>Interpretation — Understand</a:t>
            </a:r>
            <a:endParaRPr lang="en-IN" dirty="0"/>
          </a:p>
          <a:p>
            <a:pPr lvl="0"/>
            <a:r>
              <a:rPr lang="en-IN" dirty="0"/>
              <a:t>Examine loadings &amp; cross-loadings </a:t>
            </a:r>
          </a:p>
          <a:p>
            <a:pPr lvl="0"/>
            <a:r>
              <a:rPr lang="en-IN" dirty="0"/>
              <a:t>Group variables by common meaning </a:t>
            </a:r>
          </a:p>
          <a:p>
            <a:pPr lvl="0"/>
            <a:r>
              <a:rPr lang="en-IN" dirty="0"/>
              <a:t>Give factors meaningful names </a:t>
            </a:r>
          </a:p>
          <a:p>
            <a:pPr lvl="0"/>
            <a:endParaRPr lang="en-IN" dirty="0"/>
          </a:p>
          <a:p>
            <a:pPr marL="0" indent="0">
              <a:buNone/>
            </a:pPr>
            <a:r>
              <a:rPr lang="en-IN" b="1" dirty="0"/>
              <a:t>CFA — Validate</a:t>
            </a:r>
            <a:endParaRPr lang="en-IN" dirty="0"/>
          </a:p>
          <a:p>
            <a:pPr lvl="0"/>
            <a:r>
              <a:rPr lang="en-IN" dirty="0"/>
              <a:t>Tests the proposed factor structure </a:t>
            </a:r>
          </a:p>
          <a:p>
            <a:pPr lvl="0"/>
            <a:r>
              <a:rPr lang="en-IN" dirty="0"/>
              <a:t>Evaluates relationships between variables and factors </a:t>
            </a:r>
          </a:p>
          <a:p>
            <a:pPr lvl="0"/>
            <a:r>
              <a:rPr lang="en-IN" dirty="0"/>
              <a:t>Assesses how well the proposed model fits the data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EFA discovers the structure; CFA tests the structure.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50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E1DA-0AFD-A5CC-019C-D1E3F22AC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86" y="176589"/>
            <a:ext cx="10515600" cy="737811"/>
          </a:xfrm>
        </p:spPr>
        <p:txBody>
          <a:bodyPr>
            <a:normAutofit fontScale="90000"/>
          </a:bodyPr>
          <a:lstStyle/>
          <a:p>
            <a:r>
              <a:rPr lang="en-IN" dirty="0"/>
              <a:t>Factor Analysis: Suitability, Retention &amp; Dissection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F093-4117-0B6E-BA92-7FAF5A23D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643"/>
            <a:ext cx="10515600" cy="554076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dirty="0"/>
              <a:t>1. </a:t>
            </a:r>
            <a:r>
              <a:rPr lang="en-IN" sz="4400" b="1" dirty="0"/>
              <a:t>KMO — Kaiser-Meyer-Olkin</a:t>
            </a:r>
            <a:endParaRPr lang="en-IN" sz="4400" dirty="0"/>
          </a:p>
          <a:p>
            <a:pPr lvl="0"/>
            <a:r>
              <a:rPr lang="en-IN" sz="4400" dirty="0"/>
              <a:t>Measures whether the data have adequate </a:t>
            </a:r>
            <a:r>
              <a:rPr lang="en-IN" sz="4400" b="1" dirty="0"/>
              <a:t>shared variance</a:t>
            </a:r>
            <a:r>
              <a:rPr lang="en-IN" sz="4400" dirty="0"/>
              <a:t> for Factor Analysis. </a:t>
            </a:r>
          </a:p>
          <a:p>
            <a:pPr lvl="0"/>
            <a:r>
              <a:rPr lang="en-IN" sz="4400" b="1" dirty="0"/>
              <a:t>KMO &gt; 0.50</a:t>
            </a:r>
            <a:r>
              <a:rPr lang="en-IN" sz="4400" dirty="0"/>
              <a:t> is generally considered acceptable. </a:t>
            </a:r>
          </a:p>
          <a:p>
            <a:pPr marL="0" lv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b="1" dirty="0"/>
              <a:t>2. Bartlett's Test of Sphericity</a:t>
            </a:r>
            <a:endParaRPr lang="en-IN" sz="4400" dirty="0"/>
          </a:p>
          <a:p>
            <a:pPr lvl="0"/>
            <a:r>
              <a:rPr lang="en-IN" sz="4400" dirty="0"/>
              <a:t>Tests whether the correlation matrix is significantly different from an identity matrix. </a:t>
            </a:r>
          </a:p>
          <a:p>
            <a:pPr lvl="0"/>
            <a:r>
              <a:rPr lang="en-IN" sz="4400" b="1" dirty="0"/>
              <a:t>p-value &lt; 0.05</a:t>
            </a:r>
            <a:r>
              <a:rPr lang="en-IN" sz="4400" dirty="0"/>
              <a:t> indicates significant relationships among variables. </a:t>
            </a:r>
          </a:p>
          <a:p>
            <a:pPr lvl="0"/>
            <a:r>
              <a:rPr lang="en-IN" sz="4400" dirty="0"/>
              <a:t>Supports the suitability of the data for Factor Analysis. </a:t>
            </a:r>
          </a:p>
          <a:p>
            <a:pPr marL="0" lv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b="1" dirty="0"/>
              <a:t>3. Eigenvalues &amp; Scree Plot</a:t>
            </a:r>
            <a:endParaRPr lang="en-IN" sz="4400" dirty="0"/>
          </a:p>
          <a:p>
            <a:pPr lvl="0"/>
            <a:r>
              <a:rPr lang="en-IN" sz="4400" b="1" dirty="0"/>
              <a:t>Eigenvalue</a:t>
            </a:r>
            <a:r>
              <a:rPr lang="en-IN" sz="4400" dirty="0"/>
              <a:t> indicates the amount of variance explained by a factor. </a:t>
            </a:r>
          </a:p>
          <a:p>
            <a:pPr lvl="0"/>
            <a:r>
              <a:rPr lang="en-IN" sz="4400" dirty="0"/>
              <a:t>Larger eigenvalues indicate factors explaining more variance. </a:t>
            </a:r>
          </a:p>
          <a:p>
            <a:pPr lvl="0"/>
            <a:r>
              <a:rPr lang="en-IN" sz="4400" b="1" dirty="0"/>
              <a:t>Scree Plot</a:t>
            </a:r>
            <a:r>
              <a:rPr lang="en-IN" sz="4400" dirty="0"/>
              <a:t> displays eigenvalues against the number of factors.</a:t>
            </a:r>
          </a:p>
          <a:p>
            <a:pPr marL="0" lvl="0" indent="0">
              <a:buNone/>
            </a:pPr>
            <a:r>
              <a:rPr lang="en-IN" sz="4400" dirty="0"/>
              <a:t> </a:t>
            </a:r>
          </a:p>
          <a:p>
            <a:pPr marL="0" indent="0">
              <a:buNone/>
            </a:pPr>
            <a:r>
              <a:rPr lang="en-IN" sz="4400" b="1" dirty="0"/>
              <a:t>4. Factor Dissection</a:t>
            </a:r>
            <a:endParaRPr lang="en-IN" sz="4400" dirty="0"/>
          </a:p>
          <a:p>
            <a:pPr lvl="0"/>
            <a:r>
              <a:rPr lang="en-IN" sz="4400" dirty="0"/>
              <a:t>Used when a factor contains </a:t>
            </a:r>
            <a:r>
              <a:rPr lang="en-IN" sz="4400" b="1" dirty="0"/>
              <a:t>too many variables or conceptually different groups</a:t>
            </a:r>
            <a:r>
              <a:rPr lang="en-IN" sz="4400" dirty="0"/>
              <a:t>. </a:t>
            </a:r>
          </a:p>
          <a:p>
            <a:pPr lvl="0"/>
            <a:r>
              <a:rPr lang="en-IN" sz="4400" dirty="0"/>
              <a:t>The variables can then be separated and </a:t>
            </a:r>
            <a:r>
              <a:rPr lang="en-IN" sz="4400" dirty="0" err="1"/>
              <a:t>analyzed</a:t>
            </a:r>
            <a:r>
              <a:rPr lang="en-IN" sz="4400" dirty="0"/>
              <a:t> again.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66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508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RESEARCH ON FACTOR ANALYSIS</vt:lpstr>
      <vt:lpstr>Factor Analysis:</vt:lpstr>
      <vt:lpstr>How Are Factors Identified?</vt:lpstr>
      <vt:lpstr>Factor Rotation &amp; Interpretation:</vt:lpstr>
      <vt:lpstr>EFA → Factor Interpretation → CFA</vt:lpstr>
      <vt:lpstr>Factor Analysis: Suitability, Retention &amp; Dissection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ARORA</dc:creator>
  <cp:lastModifiedBy>ANMOL ARORA</cp:lastModifiedBy>
  <cp:revision>4</cp:revision>
  <dcterms:created xsi:type="dcterms:W3CDTF">2026-08-22T18:48:25Z</dcterms:created>
  <dcterms:modified xsi:type="dcterms:W3CDTF">2026-08-24T05:16:09Z</dcterms:modified>
</cp:coreProperties>
</file>