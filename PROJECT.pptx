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7" r:id="rId3"/>
    <p:sldId id="257" r:id="rId4"/>
    <p:sldId id="294" r:id="rId5"/>
    <p:sldId id="268" r:id="rId6"/>
    <p:sldId id="292" r:id="rId7"/>
    <p:sldId id="287" r:id="rId8"/>
    <p:sldId id="258" r:id="rId9"/>
    <p:sldId id="259" r:id="rId10"/>
    <p:sldId id="260" r:id="rId11"/>
    <p:sldId id="261" r:id="rId12"/>
    <p:sldId id="288" r:id="rId13"/>
    <p:sldId id="289" r:id="rId14"/>
    <p:sldId id="290" r:id="rId15"/>
    <p:sldId id="291" r:id="rId16"/>
    <p:sldId id="262" r:id="rId17"/>
    <p:sldId id="263" r:id="rId18"/>
    <p:sldId id="266" r:id="rId19"/>
    <p:sldId id="264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8" r:id="rId29"/>
    <p:sldId id="279" r:id="rId30"/>
    <p:sldId id="281" r:id="rId31"/>
    <p:sldId id="280" r:id="rId32"/>
    <p:sldId id="282" r:id="rId33"/>
    <p:sldId id="277" r:id="rId34"/>
    <p:sldId id="283" r:id="rId35"/>
    <p:sldId id="284" r:id="rId36"/>
    <p:sldId id="285" r:id="rId37"/>
    <p:sldId id="286" r:id="rId38"/>
    <p:sldId id="293" r:id="rId39"/>
    <p:sldId id="29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Before: 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Is.good.for.people.with.hair.like.mine.</c:v>
                </c:pt>
                <c:pt idx="1">
                  <c:v>Gets.rid.of.dry.itchy.scalp.</c:v>
                </c:pt>
                <c:pt idx="2">
                  <c:v>Moisturizes.my.hair.better.than.other.brands.</c:v>
                </c:pt>
                <c:pt idx="3">
                  <c:v>Moisturizes.my.hair.better.than.other.brands.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2343</c:v>
                </c:pt>
                <c:pt idx="1">
                  <c:v>3675</c:v>
                </c:pt>
                <c:pt idx="2">
                  <c:v>3015</c:v>
                </c:pt>
                <c:pt idx="3">
                  <c:v>2796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26-4D41-9649-CAA27F9742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Before: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Is.good.for.people.with.hair.like.mine.</c:v>
                </c:pt>
                <c:pt idx="1">
                  <c:v>Gets.rid.of.dry.itchy.scalp.</c:v>
                </c:pt>
                <c:pt idx="2">
                  <c:v>Moisturizes.my.hair.better.than.other.brands.</c:v>
                </c:pt>
                <c:pt idx="3">
                  <c:v>Moisturizes.my.hair.better.than.other.brands.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2703</c:v>
                </c:pt>
                <c:pt idx="1">
                  <c:v>1371</c:v>
                </c:pt>
                <c:pt idx="2">
                  <c:v>2031</c:v>
                </c:pt>
                <c:pt idx="3">
                  <c:v>2248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26-4D41-9649-CAA27F9742E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After: 0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Is.good.for.people.with.hair.like.mine.</c:v>
                </c:pt>
                <c:pt idx="1">
                  <c:v>Gets.rid.of.dry.itchy.scalp.</c:v>
                </c:pt>
                <c:pt idx="2">
                  <c:v>Moisturizes.my.hair.better.than.other.brands.</c:v>
                </c:pt>
                <c:pt idx="3">
                  <c:v>Moisturizes.my.hair.better.than.other.brands.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2343</c:v>
                </c:pt>
                <c:pt idx="1">
                  <c:v>3677</c:v>
                </c:pt>
                <c:pt idx="2">
                  <c:v>3017</c:v>
                </c:pt>
                <c:pt idx="3">
                  <c:v>2800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326-4D41-9649-CAA27F9742E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After: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Is.good.for.people.with.hair.like.mine.</c:v>
                </c:pt>
                <c:pt idx="1">
                  <c:v>Gets.rid.of.dry.itchy.scalp.</c:v>
                </c:pt>
                <c:pt idx="2">
                  <c:v>Moisturizes.my.hair.better.than.other.brands.</c:v>
                </c:pt>
                <c:pt idx="3">
                  <c:v>Moisturizes.my.hair.better.than.other.brands.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2705</c:v>
                </c:pt>
                <c:pt idx="1">
                  <c:v>1371</c:v>
                </c:pt>
                <c:pt idx="2">
                  <c:v>2031</c:v>
                </c:pt>
                <c:pt idx="3">
                  <c:v>2248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326-4D41-9649-CAA27F9742E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43181439"/>
        <c:axId val="942837615"/>
      </c:barChart>
      <c:catAx>
        <c:axId val="134318143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2837615"/>
        <c:crosses val="autoZero"/>
        <c:auto val="1"/>
        <c:lblAlgn val="ctr"/>
        <c:lblOffset val="100"/>
        <c:noMultiLvlLbl val="0"/>
      </c:catAx>
      <c:valAx>
        <c:axId val="9428376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3181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B9CD4-47A0-4ECF-9596-1A8759C4D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A68FA-7FDE-7043-BFA2-EF762D819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C019D-DFD8-ACEA-7FD6-9AAF83E57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4240-B422-437B-91E9-DFA534FBD9C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72B8D-BF93-22EA-75FB-BFD061D25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F81BF-0951-EAEE-20FD-AFD799E5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DE33D-487B-4192-98F0-114930C37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118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05341-D6BB-EAA1-5CEE-C35B6D78D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3A4F4-8C46-D444-5A6C-90F8CED23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C8B9B-CF11-DB00-71DF-9D763F000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4240-B422-437B-91E9-DFA534FBD9C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EC59-E1D6-BDE3-7860-F181F5320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5083F-7354-5653-A73E-67183C7EE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DE33D-487B-4192-98F0-114930C37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923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A4A5F-9C93-C095-77B6-2DB038077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7EC7B-B35A-060D-B789-8A8E89812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7610B-3B51-DE04-30A2-49EBAF40B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4240-B422-437B-91E9-DFA534FBD9C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EBAF7-134F-C077-7A4A-03A127A61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3603A-48F7-FC0E-E653-CC8E17C92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DE33D-487B-4192-98F0-114930C37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06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8C735-DDA5-56C2-135A-96581ACD9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07615-4076-EFC7-9BFC-4D41AFD50A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1E01F-F74C-F57F-9436-D178C529E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73A1F-970F-0684-F7EB-268D3C39E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4240-B422-437B-91E9-DFA534FBD9C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BB2A2-2BC0-8B04-A36D-AE0376CBB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D0B66-CD89-52C3-C24B-6507AD0CA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DE33D-487B-4192-98F0-114930C37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13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95D8E-D2CD-DA80-AE96-7DDAD7157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1653B-105B-6298-55C3-8DAD4886E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08FCB-7BB1-4A2C-1CDF-9C6D83C5A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25312B-CB13-8B16-2F2F-5B1C5826EE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43E9D4-EDE3-BE92-E726-325DB1B484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394FE8-898A-DBD9-08F6-030DD4C9E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4240-B422-437B-91E9-DFA534FBD9C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38995E-C0CD-64E2-87F3-5A92BA98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C21C1-C6C7-5B9B-DA42-80879CAFA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DE33D-487B-4192-98F0-114930C37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641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A951-86C1-A18A-37C7-86DDE2D04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0DBCB5-B1CF-D518-DBE6-BCB92C80E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4240-B422-437B-91E9-DFA534FBD9C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81C80-1375-ABA2-652A-5A70A2B5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00085-2C8C-7E51-0E21-E8DCD6AFF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DE33D-487B-4192-98F0-114930C37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002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D62C8C-7784-BF00-E7BB-F855ED543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4240-B422-437B-91E9-DFA534FBD9C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9F00F3-6C8D-E813-23E0-715C01C88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622DE-BC5C-0403-34F1-C687384AE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DE33D-487B-4192-98F0-114930C37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841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DEB1B-3928-78A7-5920-578881C38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93432-4F0E-003F-7A18-E47F2E544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65C03-CF33-570E-0725-ABBE2DAE0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EA54D-AA9C-8E5E-8361-B8BCF57E2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4240-B422-437B-91E9-DFA534FBD9C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A6FD3-0DE1-6E10-DCA2-CE711C8ED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3B94A-3915-3E75-2140-DE72E755F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DE33D-487B-4192-98F0-114930C37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338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AA12A-3C36-CF95-7479-6D511D036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978F79-A018-58C3-72B3-2496E7A6B3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6F6FE-9876-9F07-9C86-32A768B30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EE2FB-FABC-78E5-C6D1-1CA66C60E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4240-B422-437B-91E9-DFA534FBD9C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55E05-4C1D-2578-3226-724632F9E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D1ACC-AA4E-A65D-1DE0-6B86BB9D5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DE33D-487B-4192-98F0-114930C37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971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8C57E-2C81-5FD4-B078-6160E8529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CEA30-443C-8BBE-2274-7E781857C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DD107-D03E-D9F1-C5E7-42E64CDFE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4240-B422-437B-91E9-DFA534FBD9C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E59CA-EF39-B889-A056-ADCF543DF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71AEA-A07B-BDC3-7D4A-C5264372B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DE33D-487B-4192-98F0-114930C37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435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D445C7-B4D9-ED85-4FFD-A304151334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4D994-8A2A-2CF0-CFAB-00BB65FD6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5A6F3-7B84-7210-3878-E87B6766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4240-B422-437B-91E9-DFA534FBD9C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B7E90-2053-EB58-DE11-A3060CCEC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9C68C-DFC9-E149-E7E3-E7BAF365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DE33D-487B-4192-98F0-114930C37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042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00F6E3-7210-FAA0-A3D6-101F54060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B7D52-87DB-F34E-881A-1C624ECA8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FB730-B24C-6CA0-1ED9-3A7EB7AE3B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24240-B422-437B-91E9-DFA534FBD9C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929E5-1961-3593-E8AA-5B4BD52E7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12E9A-4E21-9697-A1F5-F6A5B45F2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DE33D-487B-4192-98F0-114930C37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478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F2F6-90CD-104F-1E31-B1991471F1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CONSUMER PERCEPTION FACTOR ANALYSIS</a:t>
            </a:r>
          </a:p>
        </p:txBody>
      </p:sp>
    </p:spTree>
    <p:extLst>
      <p:ext uri="{BB962C8B-B14F-4D97-AF65-F5344CB8AC3E}">
        <p14:creationId xmlns:p14="http://schemas.microsoft.com/office/powerpoint/2010/main" val="16396027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F7E7-D68E-C888-EDC5-44E6E49AD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Background: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3132E-66A9-394D-995B-D81785D49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dirty="0"/>
              <a:t>The dataset contains 5,048 responses and 26 hair-care attributes. </a:t>
            </a:r>
          </a:p>
          <a:p>
            <a:pPr lvl="0"/>
            <a:r>
              <a:rPr lang="en-IN" dirty="0"/>
              <a:t>The variables are binary (0 = No, 1 = Yes) and represent customer preferences. </a:t>
            </a:r>
          </a:p>
          <a:p>
            <a:pPr lvl="0"/>
            <a:r>
              <a:rPr lang="en-IN" dirty="0"/>
              <a:t>EDA was performed to understand the dataset and identify data-quality issues. </a:t>
            </a:r>
          </a:p>
          <a:p>
            <a:pPr lvl="0"/>
            <a:r>
              <a:rPr lang="en-IN" dirty="0"/>
              <a:t>EFA was used to identify underlying/latent factors among related attributes. </a:t>
            </a:r>
          </a:p>
          <a:p>
            <a:pPr lvl="0"/>
            <a:r>
              <a:rPr lang="en-IN" dirty="0"/>
              <a:t>CFA was used to validate the identified factor structure. </a:t>
            </a:r>
          </a:p>
          <a:p>
            <a:pPr lvl="0"/>
            <a:r>
              <a:rPr lang="en-IN" dirty="0"/>
              <a:t>Construct reliability was assessed to evaluate the consistency of the factors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8950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55405-24F2-2F33-D2DB-6D16BCF7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68F-65FA-6BA6-737B-724743E17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4153"/>
            <a:ext cx="10515600" cy="3942810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Understand the dataset </a:t>
            </a:r>
          </a:p>
          <a:p>
            <a:pPr lvl="0"/>
            <a:r>
              <a:rPr lang="en-IN" dirty="0"/>
              <a:t>Examine distributions </a:t>
            </a:r>
          </a:p>
          <a:p>
            <a:pPr lvl="0"/>
            <a:r>
              <a:rPr lang="en-IN" dirty="0"/>
              <a:t>Find missing values/duplicates </a:t>
            </a:r>
          </a:p>
          <a:p>
            <a:pPr lvl="0"/>
            <a:r>
              <a:rPr lang="en-IN" dirty="0"/>
              <a:t>Assess relationships </a:t>
            </a:r>
          </a:p>
          <a:p>
            <a:pPr lvl="0"/>
            <a:r>
              <a:rPr lang="en-IN" dirty="0"/>
              <a:t>Prepare data for Factor Analysis</a:t>
            </a:r>
          </a:p>
          <a:p>
            <a:pPr marL="0" lv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733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D4FA-18A0-861A-F47C-8F509B307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FD6E9-6AAF-9279-9E51-C25D3C2A4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Identify key customer needs and preferences in hair-care products.</a:t>
            </a:r>
          </a:p>
          <a:p>
            <a:pPr lvl="0"/>
            <a:r>
              <a:rPr lang="en-IN" dirty="0"/>
              <a:t>Understand different customer preference dimensions to support product development.</a:t>
            </a:r>
          </a:p>
          <a:p>
            <a:pPr lvl="0"/>
            <a:r>
              <a:rPr lang="en-IN" dirty="0"/>
              <a:t>Identify opportunities for product differentiation based on customer needs.</a:t>
            </a:r>
          </a:p>
          <a:p>
            <a:pPr lvl="0"/>
            <a:r>
              <a:rPr lang="en-IN" dirty="0"/>
              <a:t>Support targeted marketing and customer segmentation.</a:t>
            </a:r>
          </a:p>
          <a:p>
            <a:pPr lvl="0"/>
            <a:r>
              <a:rPr lang="en-IN" dirty="0"/>
              <a:t>Improve product positioning by aligning offerings with customer preferences.</a:t>
            </a:r>
          </a:p>
        </p:txBody>
      </p:sp>
    </p:spTree>
    <p:extLst>
      <p:ext uri="{BB962C8B-B14F-4D97-AF65-F5344CB8AC3E}">
        <p14:creationId xmlns:p14="http://schemas.microsoft.com/office/powerpoint/2010/main" val="3363273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2A8C-D530-8B3B-3B91-F4FD8B0B8A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1571618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1518-9ED3-8B10-95CE-830E8205B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EDA 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336B6-A36F-F44E-903E-EB23CE945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311"/>
            <a:ext cx="10515600" cy="4027652"/>
          </a:xfrm>
        </p:spPr>
        <p:txBody>
          <a:bodyPr/>
          <a:lstStyle/>
          <a:p>
            <a:pPr lvl="0"/>
            <a:r>
              <a:rPr lang="en-IN" dirty="0"/>
              <a:t>To understand the structure and characteristics of the dataset. </a:t>
            </a:r>
          </a:p>
          <a:p>
            <a:pPr lvl="0"/>
            <a:r>
              <a:rPr lang="en-IN" dirty="0"/>
              <a:t>To identify missing values and duplicate records. </a:t>
            </a:r>
          </a:p>
          <a:p>
            <a:pPr lvl="0"/>
            <a:r>
              <a:rPr lang="en-IN" dirty="0"/>
              <a:t>To examine the distribution and frequency of the variables. </a:t>
            </a:r>
          </a:p>
          <a:p>
            <a:pPr lvl="0"/>
            <a:r>
              <a:rPr lang="en-IN" dirty="0"/>
              <a:t>To </a:t>
            </a:r>
            <a:r>
              <a:rPr lang="en-IN" dirty="0" err="1"/>
              <a:t>analyze</a:t>
            </a:r>
            <a:r>
              <a:rPr lang="en-IN" dirty="0"/>
              <a:t> relationships and correlations among variables. </a:t>
            </a:r>
          </a:p>
          <a:p>
            <a:pPr lvl="0"/>
            <a:r>
              <a:rPr lang="en-IN" dirty="0"/>
              <a:t>To identify patterns and trends that support further Factor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7220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2C946-9D1E-62DB-5C93-80F702E8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Understanding: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3F605-E44F-5FD1-77A7-E9D96B8AB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4407"/>
            <a:ext cx="10515600" cy="3782555"/>
          </a:xfrm>
        </p:spPr>
        <p:txBody>
          <a:bodyPr/>
          <a:lstStyle/>
          <a:p>
            <a:pPr lvl="0"/>
            <a:r>
              <a:rPr lang="en-IN" b="1" dirty="0"/>
              <a:t>Rows/Respondents:</a:t>
            </a:r>
            <a:r>
              <a:rPr lang="en-IN" dirty="0"/>
              <a:t> 5,048 </a:t>
            </a:r>
          </a:p>
          <a:p>
            <a:pPr lvl="0"/>
            <a:r>
              <a:rPr lang="en-IN" b="1" dirty="0"/>
              <a:t>Variables:</a:t>
            </a:r>
            <a:r>
              <a:rPr lang="en-IN" dirty="0"/>
              <a:t> 26 </a:t>
            </a:r>
          </a:p>
          <a:p>
            <a:pPr lvl="0"/>
            <a:r>
              <a:rPr lang="en-IN" b="1" dirty="0"/>
              <a:t>Data type:</a:t>
            </a:r>
            <a:r>
              <a:rPr lang="en-IN" dirty="0"/>
              <a:t> Binary responses (0/1) </a:t>
            </a:r>
          </a:p>
          <a:p>
            <a:pPr lvl="0"/>
            <a:r>
              <a:rPr lang="en-IN" b="1" dirty="0"/>
              <a:t>Nature of variables:</a:t>
            </a:r>
            <a:r>
              <a:rPr lang="en-IN" dirty="0"/>
              <a:t> Product/attribute-related responses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0186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7911A-980E-DECA-73EF-FCA8E76F5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7425"/>
          </a:xfrm>
        </p:spPr>
        <p:txBody>
          <a:bodyPr/>
          <a:lstStyle/>
          <a:p>
            <a:r>
              <a:rPr lang="en-IN" b="1" dirty="0"/>
              <a:t>Data Quality Assessment: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9A357D8-08AA-9A2E-7A92-8EEC6E7EC6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3585542"/>
              </p:ext>
            </p:extLst>
          </p:nvPr>
        </p:nvGraphicFramePr>
        <p:xfrm>
          <a:off x="838197" y="1522428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46037315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7706549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33589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Quality Check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36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Missing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Imputation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366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Missing data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Assessed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051700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D20F9F3-C3E7-859E-B41C-565A3C2CB3BA}"/>
              </a:ext>
            </a:extLst>
          </p:cNvPr>
          <p:cNvSpPr/>
          <p:nvPr/>
        </p:nvSpPr>
        <p:spPr>
          <a:xfrm>
            <a:off x="1356870" y="3339518"/>
            <a:ext cx="914400" cy="9238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Original Dataset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BBDAA1E-DB51-D79A-936A-6705428ED693}"/>
              </a:ext>
            </a:extLst>
          </p:cNvPr>
          <p:cNvSpPr/>
          <p:nvPr/>
        </p:nvSpPr>
        <p:spPr>
          <a:xfrm>
            <a:off x="3997952" y="3350615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Missing Data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1689B2-E103-669F-2514-A1E9E6FA28EA}"/>
              </a:ext>
            </a:extLst>
          </p:cNvPr>
          <p:cNvSpPr/>
          <p:nvPr/>
        </p:nvSpPr>
        <p:spPr>
          <a:xfrm>
            <a:off x="6738584" y="3339518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Imputation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5B2056E-9B04-8129-50F9-057155F5C7F9}"/>
              </a:ext>
            </a:extLst>
          </p:cNvPr>
          <p:cNvSpPr/>
          <p:nvPr/>
        </p:nvSpPr>
        <p:spPr>
          <a:xfrm>
            <a:off x="9340586" y="3348945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Clean Dataset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4851F21-A19A-B6AE-04BA-1F2C5E2F6A22}"/>
              </a:ext>
            </a:extLst>
          </p:cNvPr>
          <p:cNvSpPr/>
          <p:nvPr/>
        </p:nvSpPr>
        <p:spPr>
          <a:xfrm>
            <a:off x="2661409" y="355911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B5BAC42-D96D-E6CD-D094-8C3AADF12F85}"/>
              </a:ext>
            </a:extLst>
          </p:cNvPr>
          <p:cNvSpPr/>
          <p:nvPr/>
        </p:nvSpPr>
        <p:spPr>
          <a:xfrm>
            <a:off x="5334495" y="355911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F8AAAE2-D857-EBEB-A877-EED9137050C7}"/>
              </a:ext>
            </a:extLst>
          </p:cNvPr>
          <p:cNvSpPr/>
          <p:nvPr/>
        </p:nvSpPr>
        <p:spPr>
          <a:xfrm>
            <a:off x="8007581" y="357030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A185BE-7F15-86D7-8836-B11D69CE8D49}"/>
              </a:ext>
            </a:extLst>
          </p:cNvPr>
          <p:cNvSpPr txBox="1"/>
          <p:nvPr/>
        </p:nvSpPr>
        <p:spPr>
          <a:xfrm>
            <a:off x="304818" y="5178085"/>
            <a:ext cx="11408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Finding:</a:t>
            </a:r>
            <a:endParaRPr lang="en-IN" dirty="0"/>
          </a:p>
          <a:p>
            <a:r>
              <a:rPr lang="en-IN" dirty="0"/>
              <a:t>                  </a:t>
            </a:r>
          </a:p>
          <a:p>
            <a:r>
              <a:rPr lang="en-IN" dirty="0"/>
              <a:t>           Data Quality checks were performed to identify missing values and were handled through imputation.   </a:t>
            </a:r>
          </a:p>
        </p:txBody>
      </p:sp>
    </p:spTree>
    <p:extLst>
      <p:ext uri="{BB962C8B-B14F-4D97-AF65-F5344CB8AC3E}">
        <p14:creationId xmlns:p14="http://schemas.microsoft.com/office/powerpoint/2010/main" val="2362416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EA911-C715-7885-33B5-CD6D115A7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Frequency Analysis — Before vs After Imputation: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810231-1B29-52F4-497E-E5B21F8B93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5641759"/>
              </p:ext>
            </p:extLst>
          </p:nvPr>
        </p:nvGraphicFramePr>
        <p:xfrm>
          <a:off x="456807" y="2015765"/>
          <a:ext cx="11278385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3580">
                  <a:extLst>
                    <a:ext uri="{9D8B030D-6E8A-4147-A177-3AD203B41FA5}">
                      <a16:colId xmlns:a16="http://schemas.microsoft.com/office/drawing/2014/main" val="574240622"/>
                    </a:ext>
                  </a:extLst>
                </a:gridCol>
                <a:gridCol w="2267774">
                  <a:extLst>
                    <a:ext uri="{9D8B030D-6E8A-4147-A177-3AD203B41FA5}">
                      <a16:colId xmlns:a16="http://schemas.microsoft.com/office/drawing/2014/main" val="187855974"/>
                    </a:ext>
                  </a:extLst>
                </a:gridCol>
                <a:gridCol w="2255677">
                  <a:extLst>
                    <a:ext uri="{9D8B030D-6E8A-4147-A177-3AD203B41FA5}">
                      <a16:colId xmlns:a16="http://schemas.microsoft.com/office/drawing/2014/main" val="9076817"/>
                    </a:ext>
                  </a:extLst>
                </a:gridCol>
                <a:gridCol w="2255677">
                  <a:extLst>
                    <a:ext uri="{9D8B030D-6E8A-4147-A177-3AD203B41FA5}">
                      <a16:colId xmlns:a16="http://schemas.microsoft.com/office/drawing/2014/main" val="2559574670"/>
                    </a:ext>
                  </a:extLst>
                </a:gridCol>
                <a:gridCol w="2255677">
                  <a:extLst>
                    <a:ext uri="{9D8B030D-6E8A-4147-A177-3AD203B41FA5}">
                      <a16:colId xmlns:a16="http://schemas.microsoft.com/office/drawing/2014/main" val="779828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Before: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Before: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After: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After: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233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Is.good.for.people.with.hair.like.mine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2705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134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Gets.rid.of.dry.itchy.scalp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3677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9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Moisturizes.my.hair.better.than.other.brands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555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Makes.my.life.easier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2248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03750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4DF8DF-5003-1338-CB70-B7EFBF55AFD5}"/>
              </a:ext>
            </a:extLst>
          </p:cNvPr>
          <p:cNvSpPr txBox="1"/>
          <p:nvPr/>
        </p:nvSpPr>
        <p:spPr>
          <a:xfrm>
            <a:off x="1647825" y="5734050"/>
            <a:ext cx="724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 overall response pattern remained broadly consistent after imputation.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B51EF7-29C3-7503-83B8-B4F0EE392066}"/>
              </a:ext>
            </a:extLst>
          </p:cNvPr>
          <p:cNvSpPr txBox="1"/>
          <p:nvPr/>
        </p:nvSpPr>
        <p:spPr>
          <a:xfrm>
            <a:off x="1181100" y="5248275"/>
            <a:ext cx="1343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Key Finding:</a:t>
            </a:r>
          </a:p>
        </p:txBody>
      </p:sp>
    </p:spTree>
    <p:extLst>
      <p:ext uri="{BB962C8B-B14F-4D97-AF65-F5344CB8AC3E}">
        <p14:creationId xmlns:p14="http://schemas.microsoft.com/office/powerpoint/2010/main" val="2934332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FB4D-4FAE-41A2-251D-0B3DB67D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Frequency Analysis: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E4E0B78-3AD6-59A7-F7C9-C18076A916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827165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52986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B2406-478D-8091-B260-DE88D7C36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628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Distribution of Variables(A):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D660A-AA1C-B040-7B7E-51FF1185862C}"/>
              </a:ext>
            </a:extLst>
          </p:cNvPr>
          <p:cNvSpPr txBox="1"/>
          <p:nvPr/>
        </p:nvSpPr>
        <p:spPr>
          <a:xfrm>
            <a:off x="8010525" y="47434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2C0990A-7094-8C2C-ABC6-D53DBB466D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954" y="1279973"/>
            <a:ext cx="3650203" cy="21154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82BBCA-A96F-6F93-F7CA-FCE4C18F9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76" y="3551013"/>
            <a:ext cx="3558160" cy="22069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75F2F0F-9EEE-0825-35D2-D58C0AF0C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788" y="1279973"/>
            <a:ext cx="3650204" cy="21825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C80CC0D-21AA-6386-C6CB-9A04042C49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3788" y="3551013"/>
            <a:ext cx="3558160" cy="210330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18D11A5-29D7-7BC6-5B68-5719D39C20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0525" y="1225187"/>
            <a:ext cx="3893499" cy="465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39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9F945-3E0F-BE5F-5C04-71DAC859B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099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Distribution of Variables(B):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59C7FB2-1E07-8765-F6D5-62420A12F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918" y="1253765"/>
            <a:ext cx="10781210" cy="490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398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2FB0B-A68E-D4EC-6DE3-8FC81F856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/>
          <a:lstStyle/>
          <a:p>
            <a:r>
              <a:rPr lang="en-IN" b="1" dirty="0"/>
              <a:t>Distribution of Variables(C):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CB430A-DE42-8A60-8B2E-4769213291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240" y="1348033"/>
            <a:ext cx="10681900" cy="487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25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E73BF-F397-1446-4EB9-D92885DE3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182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Distribution of Variables(D):</a:t>
            </a:r>
            <a:endParaRPr lang="en-IN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4979324B-F394-DB48-0A59-1160AA324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2657" y="1348033"/>
            <a:ext cx="10893457" cy="474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53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650EC-3FD5-B042-D478-F0C0426FB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2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Distribution of Variables(E):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D5F30B-ADAD-3031-BCA7-8B1E2A67B1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407" y="1552248"/>
            <a:ext cx="3900590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107D6A-4B28-F166-9DB6-2727880A678A}"/>
              </a:ext>
            </a:extLst>
          </p:cNvPr>
          <p:cNvSpPr txBox="1"/>
          <p:nvPr/>
        </p:nvSpPr>
        <p:spPr>
          <a:xfrm>
            <a:off x="7598004" y="19324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16E3EF-93E2-C98D-3FA2-4D4CF08EDA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016226"/>
              </p:ext>
            </p:extLst>
          </p:nvPr>
        </p:nvGraphicFramePr>
        <p:xfrm>
          <a:off x="5024618" y="2630637"/>
          <a:ext cx="699770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97700">
                  <a:extLst>
                    <a:ext uri="{9D8B030D-6E8A-4147-A177-3AD203B41FA5}">
                      <a16:colId xmlns:a16="http://schemas.microsoft.com/office/drawing/2014/main" val="321517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INSIGHTS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936521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Several variables showed a high frequency of positive responses (1).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792798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 few variables had higher frequencies of 0.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92185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No unusual peaks.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98591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The histograms showed that response patterns were consistent across the dataset.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941979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Most respondents agreed that the shampoo repairs hair damage.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77125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138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06129-A23E-1E36-1CD3-CF2F75A53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7494"/>
          </a:xfrm>
        </p:spPr>
        <p:txBody>
          <a:bodyPr>
            <a:normAutofit/>
          </a:bodyPr>
          <a:lstStyle/>
          <a:p>
            <a:r>
              <a:rPr lang="en-IN" b="1" dirty="0"/>
              <a:t>Row-Level Standard Deviation &amp;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135CA-AA0F-C09B-EDB6-651AAFCD1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086"/>
            <a:ext cx="10515600" cy="245737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Row-Level Standard Deviation:</a:t>
            </a:r>
          </a:p>
          <a:p>
            <a:pPr lvl="0"/>
            <a:r>
              <a:rPr lang="en-IN" dirty="0"/>
              <a:t>Measures the variation in responses across variables for each respondent. </a:t>
            </a:r>
          </a:p>
          <a:p>
            <a:pPr lvl="0"/>
            <a:r>
              <a:rPr lang="en-IN" dirty="0"/>
              <a:t>A higher SD indicates greater variation in a respondent's responses. </a:t>
            </a:r>
          </a:p>
          <a:p>
            <a:pPr lvl="0"/>
            <a:r>
              <a:rPr lang="en-IN" dirty="0"/>
              <a:t>Row-level SD was used as part of the data-cleaning process.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11EF63-25F5-ACE3-6B72-E739B1E0334D}"/>
              </a:ext>
            </a:extLst>
          </p:cNvPr>
          <p:cNvSpPr/>
          <p:nvPr/>
        </p:nvSpPr>
        <p:spPr>
          <a:xfrm>
            <a:off x="875992" y="4429514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Imputed Dataset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DB8F40-5776-C10E-058C-9075DDDCDF2D}"/>
              </a:ext>
            </a:extLst>
          </p:cNvPr>
          <p:cNvSpPr/>
          <p:nvPr/>
        </p:nvSpPr>
        <p:spPr>
          <a:xfrm>
            <a:off x="3881486" y="4429514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Calculate Row-Level SD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B5A7C5-7418-0DFE-6F87-59C4C46CFCA1}"/>
              </a:ext>
            </a:extLst>
          </p:cNvPr>
          <p:cNvSpPr/>
          <p:nvPr/>
        </p:nvSpPr>
        <p:spPr>
          <a:xfrm>
            <a:off x="6958989" y="4429514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Identify Unusual Response Patterns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9B0D45-BF68-0949-8CBC-CFE89282D525}"/>
              </a:ext>
            </a:extLst>
          </p:cNvPr>
          <p:cNvSpPr/>
          <p:nvPr/>
        </p:nvSpPr>
        <p:spPr>
          <a:xfrm>
            <a:off x="10036492" y="4429514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Clean Dataset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A0DFCD1-892E-9F1E-9176-3EE3BDACD2B0}"/>
              </a:ext>
            </a:extLst>
          </p:cNvPr>
          <p:cNvSpPr/>
          <p:nvPr/>
        </p:nvSpPr>
        <p:spPr>
          <a:xfrm>
            <a:off x="2346735" y="456523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195620D-B733-D666-3A85-36CA563DD71B}"/>
              </a:ext>
            </a:extLst>
          </p:cNvPr>
          <p:cNvSpPr/>
          <p:nvPr/>
        </p:nvSpPr>
        <p:spPr>
          <a:xfrm>
            <a:off x="5424238" y="458227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7198DF6-F766-B8F1-A8C5-F4E0D9736FC6}"/>
              </a:ext>
            </a:extLst>
          </p:cNvPr>
          <p:cNvSpPr/>
          <p:nvPr/>
        </p:nvSpPr>
        <p:spPr>
          <a:xfrm>
            <a:off x="8465736" y="456523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A29A37-03B4-FF5A-4610-3F2D48FF49D5}"/>
              </a:ext>
            </a:extLst>
          </p:cNvPr>
          <p:cNvSpPr txBox="1"/>
          <p:nvPr/>
        </p:nvSpPr>
        <p:spPr>
          <a:xfrm>
            <a:off x="795982" y="5801972"/>
            <a:ext cx="3715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Final Dataset Size:</a:t>
            </a:r>
            <a:r>
              <a:rPr lang="en-IN" dirty="0"/>
              <a:t> 4,311 respondents</a:t>
            </a:r>
          </a:p>
        </p:txBody>
      </p:sp>
    </p:spTree>
    <p:extLst>
      <p:ext uri="{BB962C8B-B14F-4D97-AF65-F5344CB8AC3E}">
        <p14:creationId xmlns:p14="http://schemas.microsoft.com/office/powerpoint/2010/main" val="82722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F946D-1E6C-147E-B35A-E05D10F6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415"/>
            <a:ext cx="10515600" cy="1615274"/>
          </a:xfrm>
        </p:spPr>
        <p:txBody>
          <a:bodyPr/>
          <a:lstStyle/>
          <a:p>
            <a:r>
              <a:rPr lang="en-IN" b="1" dirty="0"/>
              <a:t>Correlation Analysis: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E41F45D-25D2-AABB-4EA0-B016B886B0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709059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4489549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903599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Variable Pair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923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Anti-dandruff performance ↔ Dry/itchy scalp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0.50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7672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Achieve desired look ↔ 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0.50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6038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Hair bonds ↔ Hair damage repair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0.47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185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Harmful chemicals ↔ Natural ingredients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0.49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198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Hair bonds ↔ Hair health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0.49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261029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B2E8244-D5B9-3069-C6F0-0A1F77A87713}"/>
              </a:ext>
            </a:extLst>
          </p:cNvPr>
          <p:cNvSpPr txBox="1"/>
          <p:nvPr/>
        </p:nvSpPr>
        <p:spPr>
          <a:xfrm>
            <a:off x="838200" y="4430598"/>
            <a:ext cx="1435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Key Findings: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8D5CCF-7AA5-C177-0BEE-99FF0A6B4B18}"/>
              </a:ext>
            </a:extLst>
          </p:cNvPr>
          <p:cNvSpPr txBox="1"/>
          <p:nvPr/>
        </p:nvSpPr>
        <p:spPr>
          <a:xfrm>
            <a:off x="1555768" y="5015060"/>
            <a:ext cx="96247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Several variable pairs show moderate positive correlations, with the strongest relationships reaching </a:t>
            </a:r>
            <a:r>
              <a:rPr lang="en-IN" b="1" dirty="0"/>
              <a:t>r = 0.50</a:t>
            </a:r>
            <a:r>
              <a:rPr lang="en-IN" dirty="0"/>
              <a:t>. These relationships indicate that some variables may share common underlying characteristics.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417F27-9327-5116-71F9-4248953384A5}"/>
              </a:ext>
            </a:extLst>
          </p:cNvPr>
          <p:cNvSpPr txBox="1"/>
          <p:nvPr/>
        </p:nvSpPr>
        <p:spPr>
          <a:xfrm>
            <a:off x="1555768" y="5938390"/>
            <a:ext cx="991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correlation patterns provide a basis for exploring underlying dimensions through Factor Analysis.</a:t>
            </a:r>
          </a:p>
        </p:txBody>
      </p:sp>
    </p:spTree>
    <p:extLst>
      <p:ext uri="{BB962C8B-B14F-4D97-AF65-F5344CB8AC3E}">
        <p14:creationId xmlns:p14="http://schemas.microsoft.com/office/powerpoint/2010/main" val="3233158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F0ADC-2428-8AE6-3EFF-A13B4957C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174"/>
            <a:ext cx="10515600" cy="59640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Correlation Analysis: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64FEAE-8887-8B25-4E03-814F9138E6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6825" y="1393992"/>
            <a:ext cx="7149583" cy="4351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CEC078-0282-CDD0-8F10-15CDDD226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33" y="1393992"/>
            <a:ext cx="3230880" cy="477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534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6346E-93C1-8910-FF3C-B2ED52729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583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EDA findings: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DD562-4E6E-6AB7-DB72-5DD0E674D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284"/>
            <a:ext cx="10515600" cy="2953765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IN" dirty="0"/>
              <a:t>Dataset structure and variable characteristics were examined. </a:t>
            </a:r>
          </a:p>
          <a:p>
            <a:pPr lvl="0"/>
            <a:r>
              <a:rPr lang="en-IN" dirty="0"/>
              <a:t>Missing values and duplicate records were assessed. </a:t>
            </a:r>
          </a:p>
          <a:p>
            <a:pPr lvl="0"/>
            <a:r>
              <a:rPr lang="en-IN" dirty="0"/>
              <a:t>Missing values were handled through imputation. </a:t>
            </a:r>
          </a:p>
          <a:p>
            <a:pPr lvl="0"/>
            <a:r>
              <a:rPr lang="en-IN" dirty="0"/>
              <a:t>Frequency distributions were compared before and after imputation. </a:t>
            </a:r>
          </a:p>
          <a:p>
            <a:pPr lvl="0"/>
            <a:r>
              <a:rPr lang="en-IN" dirty="0"/>
              <a:t>Histograms were used to examine the distribution of the 26 variables. </a:t>
            </a:r>
          </a:p>
          <a:p>
            <a:pPr lvl="0"/>
            <a:r>
              <a:rPr lang="en-IN" dirty="0"/>
              <a:t>Row-level standard deviation was assessed for respondent-level variability. </a:t>
            </a:r>
          </a:p>
          <a:p>
            <a:pPr lvl="0"/>
            <a:r>
              <a:rPr lang="en-IN" dirty="0"/>
              <a:t>Correlation analysis was performed to examine relationships among variables.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DFCE75-2E1A-A52A-7CA0-9EAA06178685}"/>
              </a:ext>
            </a:extLst>
          </p:cNvPr>
          <p:cNvSpPr txBox="1"/>
          <p:nvPr/>
        </p:nvSpPr>
        <p:spPr>
          <a:xfrm>
            <a:off x="838200" y="4975815"/>
            <a:ext cx="3410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EDA Completed → Factor Analysis</a:t>
            </a:r>
          </a:p>
        </p:txBody>
      </p:sp>
    </p:spTree>
    <p:extLst>
      <p:ext uri="{BB962C8B-B14F-4D97-AF65-F5344CB8AC3E}">
        <p14:creationId xmlns:p14="http://schemas.microsoft.com/office/powerpoint/2010/main" val="2265063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47A18-9337-EFB9-F84C-829A00AE19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Exploratory Factor Analysis (EFA)</a:t>
            </a:r>
          </a:p>
        </p:txBody>
      </p:sp>
    </p:spTree>
    <p:extLst>
      <p:ext uri="{BB962C8B-B14F-4D97-AF65-F5344CB8AC3E}">
        <p14:creationId xmlns:p14="http://schemas.microsoft.com/office/powerpoint/2010/main" val="2531216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54A3D-8EA4-A91C-F4AF-9DCAD5C3B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4234"/>
            <a:ext cx="10515600" cy="1325563"/>
          </a:xfrm>
        </p:spPr>
        <p:txBody>
          <a:bodyPr/>
          <a:lstStyle/>
          <a:p>
            <a:r>
              <a:rPr lang="en-IN" b="1" dirty="0"/>
              <a:t>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B4EC-033C-8B87-749F-472F22F65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7538"/>
            <a:ext cx="10515600" cy="4351338"/>
          </a:xfrm>
        </p:spPr>
        <p:txBody>
          <a:bodyPr/>
          <a:lstStyle/>
          <a:p>
            <a:pPr lvl="0"/>
            <a:r>
              <a:rPr lang="en-IN" dirty="0"/>
              <a:t>To identify the underlying dimensions among the 26 observed variables. </a:t>
            </a:r>
          </a:p>
          <a:p>
            <a:pPr lvl="0"/>
            <a:r>
              <a:rPr lang="en-IN" dirty="0"/>
              <a:t>To reduce the variables into a smaller number of meaningful factors. </a:t>
            </a:r>
          </a:p>
          <a:p>
            <a:pPr lvl="0"/>
            <a:r>
              <a:rPr lang="en-IN" dirty="0"/>
              <a:t>To identify groups of variables that share common patterns.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6379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102AC-C3AD-DE32-5295-9002E9E32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Suitability for Factor Analysis: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EFEC7C-394E-A7A4-24C3-D379D74D96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6013388"/>
              </p:ext>
            </p:extLst>
          </p:nvPr>
        </p:nvGraphicFramePr>
        <p:xfrm>
          <a:off x="838203" y="2130457"/>
          <a:ext cx="10515597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89291484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7040007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51899282"/>
                    </a:ext>
                  </a:extLst>
                </a:gridCol>
              </a:tblGrid>
              <a:tr h="235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032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KMO (Overall MSA)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0.94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 sampling adequacy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240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Bartlett's Test of Sphericity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 &lt; 0.05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Variables are sufficiently correlated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91207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A24D626-3A14-4E04-D194-C3E0BB66C47C}"/>
              </a:ext>
            </a:extLst>
          </p:cNvPr>
          <p:cNvSpPr txBox="1"/>
          <p:nvPr/>
        </p:nvSpPr>
        <p:spPr>
          <a:xfrm>
            <a:off x="980388" y="4374037"/>
            <a:ext cx="9892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 KMO and Bartlett's Test indicate that the data is suitable for conducting Exploratory Factor Analysis.</a:t>
            </a:r>
          </a:p>
        </p:txBody>
      </p:sp>
    </p:spTree>
    <p:extLst>
      <p:ext uri="{BB962C8B-B14F-4D97-AF65-F5344CB8AC3E}">
        <p14:creationId xmlns:p14="http://schemas.microsoft.com/office/powerpoint/2010/main" val="1436871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5E73-14C4-95D4-7A85-DFE5324FE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073"/>
            <a:ext cx="10515600" cy="772998"/>
          </a:xfrm>
        </p:spPr>
        <p:txBody>
          <a:bodyPr>
            <a:normAutofit/>
          </a:bodyPr>
          <a:lstStyle/>
          <a:p>
            <a:r>
              <a:rPr lang="en-IN" b="1" dirty="0"/>
              <a:t>Eigenvalues: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F5E199F-7EEF-8BC4-E3D7-368CEAD1A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9433" y="1458633"/>
            <a:ext cx="1395167" cy="50222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0FEE02-BF21-A076-B634-62EC2B98EFB1}"/>
              </a:ext>
            </a:extLst>
          </p:cNvPr>
          <p:cNvSpPr txBox="1"/>
          <p:nvPr/>
        </p:nvSpPr>
        <p:spPr>
          <a:xfrm>
            <a:off x="4374037" y="2375555"/>
            <a:ext cx="7591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Note:</a:t>
            </a:r>
            <a:r>
              <a:rPr lang="en-IN" dirty="0"/>
              <a:t> The eigenvalue criterion provides an initial indication of the number of factors. The scree plot and factor interpretability are also considered.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7207E3-357D-F45C-C833-BB165ED8AA17}"/>
              </a:ext>
            </a:extLst>
          </p:cNvPr>
          <p:cNvSpPr txBox="1"/>
          <p:nvPr/>
        </p:nvSpPr>
        <p:spPr>
          <a:xfrm>
            <a:off x="4374037" y="3129699"/>
            <a:ext cx="7141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Four factors have eigenvalues greater than 1 based on the Kaiser criterion.</a:t>
            </a:r>
          </a:p>
        </p:txBody>
      </p:sp>
    </p:spTree>
    <p:extLst>
      <p:ext uri="{BB962C8B-B14F-4D97-AF65-F5344CB8AC3E}">
        <p14:creationId xmlns:p14="http://schemas.microsoft.com/office/powerpoint/2010/main" val="1404391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3D4CD-6C2C-E9CD-962E-02B2E5DD7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Scree Plot: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BB711F-D63E-375E-8B3E-517CB76FE049}"/>
              </a:ext>
            </a:extLst>
          </p:cNvPr>
          <p:cNvSpPr txBox="1"/>
          <p:nvPr/>
        </p:nvSpPr>
        <p:spPr>
          <a:xfrm>
            <a:off x="6759018" y="2848788"/>
            <a:ext cx="49506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Finding:</a:t>
            </a:r>
            <a:r>
              <a:rPr lang="en-IN" dirty="0"/>
              <a:t> The scree plot shows a sharp decline in variance after Component 1, followed by gradual flattening, indicating that the first few components explain most of the variance..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C48E1D-D38F-E702-2BFB-5BD13185BC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19" y="1690688"/>
            <a:ext cx="4861981" cy="432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8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085AD-59EA-98CB-EBA2-1D20AB49F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3819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Rotated Factor Loadings – 4 Factor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466603-AA29-4FC1-547F-4F334152DA5B}"/>
              </a:ext>
            </a:extLst>
          </p:cNvPr>
          <p:cNvSpPr txBox="1"/>
          <p:nvPr/>
        </p:nvSpPr>
        <p:spPr>
          <a:xfrm>
            <a:off x="8418136" y="17439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D6218F-ACCD-1046-5244-68DF3CE8CD3E}"/>
              </a:ext>
            </a:extLst>
          </p:cNvPr>
          <p:cNvSpPr txBox="1"/>
          <p:nvPr/>
        </p:nvSpPr>
        <p:spPr>
          <a:xfrm>
            <a:off x="7164371" y="1809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2CF9A102-BAC8-35DD-95C9-C0D8938AD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4656" y="1206631"/>
            <a:ext cx="5020681" cy="515646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76E0707-57AB-5D14-AE3E-3DF5F60ACC72}"/>
              </a:ext>
            </a:extLst>
          </p:cNvPr>
          <p:cNvSpPr txBox="1"/>
          <p:nvPr/>
        </p:nvSpPr>
        <p:spPr>
          <a:xfrm>
            <a:off x="6365450" y="2472974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Clear factor loadings observed.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No cross-loadings.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Items are distinctly grouped under factors.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Solution is stable and interpretable.</a:t>
            </a:r>
          </a:p>
        </p:txBody>
      </p:sp>
    </p:spTree>
    <p:extLst>
      <p:ext uri="{BB962C8B-B14F-4D97-AF65-F5344CB8AC3E}">
        <p14:creationId xmlns:p14="http://schemas.microsoft.com/office/powerpoint/2010/main" val="3529894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E895B-1A25-4CE5-6C85-85374B11E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1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Rotated Factor Loadings – 5 Factor Solution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489E865-034A-D5E8-4609-87FB3B6AB4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597" y="894131"/>
            <a:ext cx="5464404" cy="56857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FBB257-FB51-54AC-BE6E-BF2AF8FFEA76}"/>
              </a:ext>
            </a:extLst>
          </p:cNvPr>
          <p:cNvSpPr txBox="1"/>
          <p:nvPr/>
        </p:nvSpPr>
        <p:spPr>
          <a:xfrm>
            <a:off x="7051249" y="2752627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ACFE03-1317-FC36-C503-56018DFEA6DA}"/>
              </a:ext>
            </a:extLst>
          </p:cNvPr>
          <p:cNvSpPr txBox="1"/>
          <p:nvPr/>
        </p:nvSpPr>
        <p:spPr>
          <a:xfrm>
            <a:off x="6425154" y="2093372"/>
            <a:ext cx="57668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Clear factor loadings are observed across the 5-factor solution.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Most items load strongly on one primary factor.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No major cross-loadings are observed for the key items.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five factors show distinct and interpretable dimensions.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Structure is cleaner than factor 4.</a:t>
            </a:r>
          </a:p>
        </p:txBody>
      </p:sp>
    </p:spTree>
    <p:extLst>
      <p:ext uri="{BB962C8B-B14F-4D97-AF65-F5344CB8AC3E}">
        <p14:creationId xmlns:p14="http://schemas.microsoft.com/office/powerpoint/2010/main" val="1481501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036ED-B10A-36B0-40ED-AF46691D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Rotated Factor Loadings – 6 Factor Solution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6FAE530-7C27-C7DF-FE98-B053F28C4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340" y="1008668"/>
            <a:ext cx="5624660" cy="57032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18B08B6-BF49-6B2B-F14F-4D82DC43054E}"/>
              </a:ext>
            </a:extLst>
          </p:cNvPr>
          <p:cNvSpPr txBox="1"/>
          <p:nvPr/>
        </p:nvSpPr>
        <p:spPr>
          <a:xfrm>
            <a:off x="6384303" y="2295019"/>
            <a:ext cx="56246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Brand and Product experiences flips.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One item shows a potential cross-loading.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remaining items are well differentiated across factors.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Not ideal for CFA.</a:t>
            </a:r>
          </a:p>
        </p:txBody>
      </p:sp>
    </p:spTree>
    <p:extLst>
      <p:ext uri="{BB962C8B-B14F-4D97-AF65-F5344CB8AC3E}">
        <p14:creationId xmlns:p14="http://schemas.microsoft.com/office/powerpoint/2010/main" val="3954028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CDD83-5769-8228-0730-F7BEC2E8A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2303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Variance: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D6BD66-0DCC-1BC3-74B9-2E39D177F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622" y="1399091"/>
            <a:ext cx="6438900" cy="929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993F41-18A8-B92B-59CB-B2284629F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622" y="3273016"/>
            <a:ext cx="6530340" cy="1112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7B39F8-298A-F93A-C477-8B425BDB5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622" y="5197474"/>
            <a:ext cx="6530340" cy="1295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44FB13-7F12-FCC5-9EEB-AE139613A6B6}"/>
              </a:ext>
            </a:extLst>
          </p:cNvPr>
          <p:cNvSpPr txBox="1"/>
          <p:nvPr/>
        </p:nvSpPr>
        <p:spPr>
          <a:xfrm>
            <a:off x="4542381" y="870523"/>
            <a:ext cx="1814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 Factor solution: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89F084-C1DD-8EEE-D04F-DF0583E13238}"/>
              </a:ext>
            </a:extLst>
          </p:cNvPr>
          <p:cNvSpPr txBox="1"/>
          <p:nvPr/>
        </p:nvSpPr>
        <p:spPr>
          <a:xfrm>
            <a:off x="4542380" y="2728618"/>
            <a:ext cx="1814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 Factor solution: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DF7ED6-A08A-52A3-132F-F41891CF8ED0}"/>
              </a:ext>
            </a:extLst>
          </p:cNvPr>
          <p:cNvSpPr txBox="1"/>
          <p:nvPr/>
        </p:nvSpPr>
        <p:spPr>
          <a:xfrm>
            <a:off x="4542380" y="4683490"/>
            <a:ext cx="1814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 Factor solution: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5553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6700-5809-BD91-97AA-A51C71441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411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H2(Communality), U2(Uniqueness) and COM(Complexity):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DDA19-4978-5204-2BE7-5B6A37942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H² (Communality):</a:t>
            </a:r>
            <a:br>
              <a:rPr lang="en-IN" dirty="0"/>
            </a:br>
            <a:r>
              <a:rPr lang="en-IN" dirty="0"/>
              <a:t>The proportion of variance in an observed variable that is explained by the common factors extracted in the EFA.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U² (Uniqueness):</a:t>
            </a:r>
            <a:br>
              <a:rPr lang="en-IN" dirty="0"/>
            </a:br>
            <a:r>
              <a:rPr lang="en-IN" dirty="0"/>
              <a:t>The proportion of variance in an observed variable that is not explained by the common factors. It represents variable-specific variance and error.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COM (Complexity):</a:t>
            </a:r>
            <a:br>
              <a:rPr lang="en-IN" dirty="0"/>
            </a:br>
            <a:r>
              <a:rPr lang="en-IN" dirty="0"/>
              <a:t>Indicates how many factors are substantially associated with an observed variable. A value close to 1 means the variable mainly belongs to one factor, while a higher value indicates that the variable loads on multiple factors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36807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49C8E-6D05-16F8-26CC-2A459C4F6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354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H2_U2_COM- 4 Factor solution: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FDD70D9-7D41-2F8C-11D8-2E6E2A961D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78491"/>
            <a:ext cx="6862718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F9900D-B488-546A-83C8-83970C558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995" y="1778491"/>
            <a:ext cx="1859280" cy="440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9050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A3DBD-EE9D-1507-982C-5E106C21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9844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H2_U2_COM- 5 Factor solution: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7DAFDB-657A-D316-8087-0785D8CE81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05113"/>
            <a:ext cx="7035778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469749-87AD-3403-8C52-50F355D72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191" y="1505113"/>
            <a:ext cx="1859280" cy="422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531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879D6-7439-B05A-549E-78E532673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812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H2_U2_COM- 6 Factor solution: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DE6A5CB-80A0-E3F2-1A39-BFC5A8273E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74796"/>
            <a:ext cx="7035778" cy="43513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8971EF-5024-B908-728D-0D2BF8A3F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325" y="1674796"/>
            <a:ext cx="1859280" cy="422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270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D6E57-E4B3-A852-A6B9-748B9533C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386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Factor Dissection- 5 Factor Solution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754592-24CF-9072-3657-89DA795A26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7075"/>
            <a:ext cx="4305300" cy="20345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2CA39F-9CDB-0F62-9407-4EFECF3C8B1C}"/>
              </a:ext>
            </a:extLst>
          </p:cNvPr>
          <p:cNvSpPr txBox="1"/>
          <p:nvPr/>
        </p:nvSpPr>
        <p:spPr>
          <a:xfrm>
            <a:off x="1696825" y="1377204"/>
            <a:ext cx="1001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Factor 1: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F59264-BC35-70DC-E6B6-B58D68218251}"/>
              </a:ext>
            </a:extLst>
          </p:cNvPr>
          <p:cNvSpPr txBox="1"/>
          <p:nvPr/>
        </p:nvSpPr>
        <p:spPr>
          <a:xfrm>
            <a:off x="8691512" y="1377204"/>
            <a:ext cx="1001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Factor 4: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6142FF-C8D6-CA85-8B97-9367FA523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266" y="1947075"/>
            <a:ext cx="3444240" cy="1485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9BA13D-67FF-C3A7-8083-DB2E19085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59" y="5089704"/>
            <a:ext cx="3307080" cy="11201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2BED59-9B5F-D44F-399D-3BAC732A6DBD}"/>
              </a:ext>
            </a:extLst>
          </p:cNvPr>
          <p:cNvSpPr txBox="1"/>
          <p:nvPr/>
        </p:nvSpPr>
        <p:spPr>
          <a:xfrm>
            <a:off x="1932495" y="4553146"/>
            <a:ext cx="1809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Factor1_Variance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4D8E920-214F-4822-9252-A3BB49B5C4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266" y="5199477"/>
            <a:ext cx="3002280" cy="11201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7605450-A6C0-FE64-3102-5A5B45158430}"/>
              </a:ext>
            </a:extLst>
          </p:cNvPr>
          <p:cNvSpPr txBox="1"/>
          <p:nvPr/>
        </p:nvSpPr>
        <p:spPr>
          <a:xfrm>
            <a:off x="8287554" y="4553146"/>
            <a:ext cx="1809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Factor4_Variance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52436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C558B-7CDC-DF7E-D1C9-3C171443A9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CFA (Confirmatory Factor Analysis).</a:t>
            </a:r>
          </a:p>
        </p:txBody>
      </p:sp>
    </p:spTree>
    <p:extLst>
      <p:ext uri="{BB962C8B-B14F-4D97-AF65-F5344CB8AC3E}">
        <p14:creationId xmlns:p14="http://schemas.microsoft.com/office/powerpoint/2010/main" val="33177293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E3DF5-71AF-85FF-1150-DFBE46876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CFA 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F8399-A65B-001D-9D63-491B4BB72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To validate the factor structure identified through EFA. </a:t>
            </a:r>
          </a:p>
          <a:p>
            <a:pPr lvl="0"/>
            <a:r>
              <a:rPr lang="en-IN" dirty="0"/>
              <a:t>To assess how well the proposed factor structure fits the observed data. </a:t>
            </a:r>
          </a:p>
          <a:p>
            <a:pPr lvl="0"/>
            <a:r>
              <a:rPr lang="en-IN" dirty="0"/>
              <a:t>To evaluate the strength of relationships between factors and their observed variables using standardized factor loadings. </a:t>
            </a:r>
          </a:p>
          <a:p>
            <a:pPr lvl="0"/>
            <a:r>
              <a:rPr lang="en-IN" dirty="0"/>
              <a:t>To assess the reliability and validity of the measurement model. </a:t>
            </a:r>
          </a:p>
          <a:p>
            <a:pPr lvl="0"/>
            <a:r>
              <a:rPr lang="en-IN" dirty="0"/>
              <a:t>To identify whether the proposed final factor structure is suitable for further analysis.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12588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71BAA-42A2-919B-CED9-D5495FFAE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7397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CFA Reliability: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7F7A26-8E90-8343-392F-02EEEE010192}"/>
              </a:ext>
            </a:extLst>
          </p:cNvPr>
          <p:cNvSpPr txBox="1"/>
          <p:nvPr/>
        </p:nvSpPr>
        <p:spPr>
          <a:xfrm>
            <a:off x="7769613" y="2782669"/>
            <a:ext cx="3980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Note:</a:t>
            </a:r>
            <a:r>
              <a:rPr lang="en-IN" dirty="0"/>
              <a:t> Factor loadings of 0.50 or above are considered acceptable.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E34EAC8-DE2B-5E63-045C-A5BDE9DDD4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305" y="1071615"/>
            <a:ext cx="6148322" cy="531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8626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DE3C0-870D-FC47-963C-E2AC5EC65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Technical Insights from Factor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DAD82-73A3-E6B4-3425-FC6E323AB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KMO and Bartlett’s Test confirmed that the data is suitable for factor analysis. </a:t>
            </a:r>
          </a:p>
          <a:p>
            <a:pPr lvl="0"/>
            <a:r>
              <a:rPr lang="en-IN" dirty="0"/>
              <a:t>7 meaningful factors were identified through EFA. </a:t>
            </a:r>
          </a:p>
          <a:p>
            <a:pPr lvl="0"/>
            <a:r>
              <a:rPr lang="en-IN" dirty="0"/>
              <a:t>Most factor loadings were 0.50 or above, indicating strong relationships between items and factors. </a:t>
            </a:r>
          </a:p>
          <a:p>
            <a:pPr lvl="0"/>
            <a:r>
              <a:rPr lang="en-IN" dirty="0"/>
              <a:t>The 7-factor structure was also tested using CFA and showed consistency with the EFA structure. </a:t>
            </a:r>
          </a:p>
          <a:p>
            <a:pPr lvl="0"/>
            <a:r>
              <a:rPr lang="en-IN" dirty="0"/>
              <a:t>These factors provide a clear and simplified understanding of the key dimensions in the dataset.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78230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1FD8E-807B-F89B-87AE-87971DBB9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Insights from Factor Analysis: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4432F-30FA-1F57-7423-F9BFD5507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5308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b="1" dirty="0"/>
              <a:t>Customer preferences are multidimensional:</a:t>
            </a:r>
            <a:r>
              <a:rPr lang="en-IN" dirty="0"/>
              <a:t> Hair-care decisions are driven by several distinct dimensions rather than one overall preference, allowing the business to develop more targeted strategies. </a:t>
            </a:r>
          </a:p>
          <a:p>
            <a:pPr lvl="0"/>
            <a:r>
              <a:rPr lang="en-IN" b="1" dirty="0"/>
              <a:t>Functional and emotional benefits are connected:</a:t>
            </a:r>
            <a:r>
              <a:rPr lang="en-IN" dirty="0"/>
              <a:t> Attributes related to hair performance, appearance, confidence, and convenience cluster together, suggesting that products can be positioned using both functional and emotional benefits. </a:t>
            </a:r>
          </a:p>
          <a:p>
            <a:pPr lvl="0"/>
            <a:r>
              <a:rPr lang="en-IN" b="1" dirty="0"/>
              <a:t>Specialized needs can be targeted:</a:t>
            </a:r>
            <a:r>
              <a:rPr lang="en-IN" dirty="0"/>
              <a:t> The emergence of distinct scalp-care and hair-type-related factors indicates opportunities for more specialized product segments. </a:t>
            </a:r>
          </a:p>
          <a:p>
            <a:pPr lvl="0"/>
            <a:r>
              <a:rPr lang="en-IN" b="1" dirty="0"/>
              <a:t>Ingredient preferences form a separate dimension:</a:t>
            </a:r>
            <a:r>
              <a:rPr lang="en-IN" dirty="0"/>
              <a:t> Natural and clean-ingredient attributes cluster together, providing a potential basis for product differentiation and positioning. </a:t>
            </a:r>
          </a:p>
          <a:p>
            <a:pPr lvl="0"/>
            <a:r>
              <a:rPr lang="en-IN" b="1" dirty="0"/>
              <a:t>Factor-based segmentation can support marketing:</a:t>
            </a:r>
            <a:r>
              <a:rPr lang="en-IN" dirty="0"/>
              <a:t> The identified dimensions can help the business target different customer needs with tailored products, messaging, and campaigns.</a:t>
            </a:r>
          </a:p>
        </p:txBody>
      </p:sp>
    </p:spTree>
    <p:extLst>
      <p:ext uri="{BB962C8B-B14F-4D97-AF65-F5344CB8AC3E}">
        <p14:creationId xmlns:p14="http://schemas.microsoft.com/office/powerpoint/2010/main" val="7144700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898EC-6668-7B9D-EBF8-34F14E65CB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04201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1426</Words>
  <Application>Microsoft Office PowerPoint</Application>
  <PresentationFormat>Widescreen</PresentationFormat>
  <Paragraphs>202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Calibri Light</vt:lpstr>
      <vt:lpstr>Office Theme</vt:lpstr>
      <vt:lpstr>CONSUMER PERCEPTION FACTOR ANALYSIS</vt:lpstr>
      <vt:lpstr>Background:</vt:lpstr>
      <vt:lpstr>Project Objectives:</vt:lpstr>
      <vt:lpstr>Business Objectives:</vt:lpstr>
      <vt:lpstr>EXPLORATORY DATA ANALYSIS</vt:lpstr>
      <vt:lpstr>EDA Objectives:</vt:lpstr>
      <vt:lpstr>Data Understanding:</vt:lpstr>
      <vt:lpstr>Data Quality Assessment:</vt:lpstr>
      <vt:lpstr>Frequency Analysis — Before vs After Imputation:</vt:lpstr>
      <vt:lpstr>Frequency Analysis:</vt:lpstr>
      <vt:lpstr>Distribution of Variables(A):</vt:lpstr>
      <vt:lpstr>Distribution of Variables(B):</vt:lpstr>
      <vt:lpstr>Distribution of Variables(C):</vt:lpstr>
      <vt:lpstr>Distribution of Variables(D):</vt:lpstr>
      <vt:lpstr>Distribution of Variables(E):</vt:lpstr>
      <vt:lpstr>Row-Level Standard Deviation &amp; Data Cleaning</vt:lpstr>
      <vt:lpstr>Correlation Analysis:</vt:lpstr>
      <vt:lpstr>Correlation Analysis:</vt:lpstr>
      <vt:lpstr>EDA findings:</vt:lpstr>
      <vt:lpstr>Exploratory Factor Analysis (EFA)</vt:lpstr>
      <vt:lpstr>Objectives:</vt:lpstr>
      <vt:lpstr>Suitability for Factor Analysis:</vt:lpstr>
      <vt:lpstr>Eigenvalues:</vt:lpstr>
      <vt:lpstr>Scree Plot:</vt:lpstr>
      <vt:lpstr>Rotated Factor Loadings – 4 Factor Solution</vt:lpstr>
      <vt:lpstr>Rotated Factor Loadings – 5 Factor Solution</vt:lpstr>
      <vt:lpstr>Rotated Factor Loadings – 6 Factor Solution</vt:lpstr>
      <vt:lpstr>Variance:</vt:lpstr>
      <vt:lpstr>H2(Communality), U2(Uniqueness) and COM(Complexity):</vt:lpstr>
      <vt:lpstr>H2_U2_COM- 4 Factor solution:</vt:lpstr>
      <vt:lpstr>H2_U2_COM- 5 Factor solution:</vt:lpstr>
      <vt:lpstr>H2_U2_COM- 6 Factor solution:</vt:lpstr>
      <vt:lpstr>Factor Dissection- 5 Factor Solution</vt:lpstr>
      <vt:lpstr>CFA (Confirmatory Factor Analysis).</vt:lpstr>
      <vt:lpstr>CFA Objectives:</vt:lpstr>
      <vt:lpstr>CFA Reliability:</vt:lpstr>
      <vt:lpstr>Technical Insights from Factor Analysis:</vt:lpstr>
      <vt:lpstr>Business Insights from Factor Analysis: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ANMOL ARORA</dc:creator>
  <cp:lastModifiedBy>ANMOL ARORA</cp:lastModifiedBy>
  <cp:revision>10</cp:revision>
  <dcterms:created xsi:type="dcterms:W3CDTF">2026-08-23T15:52:15Z</dcterms:created>
  <dcterms:modified xsi:type="dcterms:W3CDTF">2026-08-30T16:29:32Z</dcterms:modified>
</cp:coreProperties>
</file>